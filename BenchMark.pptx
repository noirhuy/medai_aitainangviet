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C57"/>
                </a:solidFill>
                <a:latin typeface="Segoe UI"/>
              </a:defRPr>
            </a:pPr>
            <a:r>
              <a:t>Bộ dữ liệu thực nghiệm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120640" cy="5120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400" b="1">
                <a:solidFill>
                  <a:srgbClr val="1A73E8"/>
                </a:solidFill>
                <a:latin typeface="Segoe UI"/>
              </a:defRPr>
            </a:pPr>
            <a:r>
              <a:t>Nguồn dữ liệu</a:t>
            </a:r>
          </a:p>
          <a:p>
            <a:pPr>
              <a:spcAft>
                <a:spcPts val="1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Bộ dữ liệu chuẩn quốc tế DDXPlus Benchmark từ Viện Nghiên cứu Trí tuệ Nhân tạo Montreal (MILA — NeurIPS).</a:t>
            </a:r>
          </a:p>
          <a:p>
            <a:pPr>
              <a:spcAft>
                <a:spcPts val="1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Bộ test gồm 100 ca bệnh lâm sàng chuẩn hóa bao phủ 9 chuyên khoa y tế chính.</a:t>
            </a:r>
          </a:p>
          <a:p>
            <a:pPr>
              <a:spcAft>
                <a:spcPts val="1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Mỗi ca bệnh gồm lý do đến khám ban đầu (Chief Complaint), bệnh sử, triệu chứng dương tính/âm tính và bệnh lý chuẩn làm nhãn.</a:t>
            </a:r>
          </a:p>
          <a:p>
            <a:pPr>
              <a:spcAft>
                <a:spcPts val="1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Dữ liệu dùng để kiểm tra khả năng hỏi bệnh tương tác đa vòng và chẩn đoán phân biệt (DDx).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188720"/>
            <a:ext cx="5120640" cy="5120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400" b="1">
                <a:solidFill>
                  <a:srgbClr val="0D9488"/>
                </a:solidFill>
                <a:latin typeface="Segoe UI"/>
              </a:defRPr>
            </a:pPr>
            <a:r>
              <a:t>Vì sao phù hợp?</a:t>
            </a:r>
          </a:p>
          <a:p>
            <a:pPr>
              <a:spcAft>
                <a:spcPts val="14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Là bộ dữ liệu chuẩn quốc tế độc lập, loại bỏ hoàn toàn thiên lệch dữ liệu và đảm bảo so sánh công bằng giữa các mô hình.</a:t>
            </a:r>
          </a:p>
          <a:p>
            <a:pPr>
              <a:spcAft>
                <a:spcPts val="14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Mô phỏng chính xác quy trình hỏi bệnh lâm sàng từng bước (bắt đầu từ 1 triệu chứng ban đầu, qua 3 vòng hỏi để bóc tách triệu chứng ẩn).</a:t>
            </a:r>
          </a:p>
          <a:p>
            <a:pPr>
              <a:spcAft>
                <a:spcPts val="14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Có ontology triệu chứng chuẩn hóa (49 triệu chứng), giúp đánh giá khách quan năng lực khai thác thông tin của mô hình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C57"/>
                </a:solidFill>
                <a:latin typeface="Segoe UI"/>
              </a:defRPr>
            </a:pPr>
            <a:r>
              <a:t>Chỉ số đánh giá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188720"/>
            <a:ext cx="5120640" cy="5120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400" b="1">
                <a:solidFill>
                  <a:srgbClr val="1A73E8"/>
                </a:solidFill>
                <a:latin typeface="Segoe UI"/>
              </a:defRPr>
            </a:pPr>
            <a:r>
              <a:t>1. Tỷ lệ trúng Top 5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  <a:latin typeface="Segoe UI"/>
              </a:defRPr>
            </a:pPr>
            <a:r>
              <a:t>Đo tỷ lệ ca bệnh mà chẩn đoán đúng nằm trong Top 5 bệnh nghi ngờ do hệ thống đề xuất sau 3 vòng hỏi.</a:t>
            </a:r>
          </a:p>
          <a:p>
            <a:pPr>
              <a:spcAft>
                <a:spcPts val="1200"/>
              </a:spcAft>
              <a:defRPr sz="1650">
                <a:solidFill>
                  <a:srgbClr val="1E293B"/>
                </a:solidFill>
              </a:defRPr>
            </a:pPr>
            <a:r>
              <a:t>•  Đánh giá độ an toàn trong khâu sàng lọc và phân luồng bệnh nhân.</a:t>
            </a:r>
          </a:p>
          <a:p>
            <a:pPr>
              <a:spcAft>
                <a:spcPts val="1200"/>
              </a:spcAft>
              <a:defRPr sz="1650">
                <a:solidFill>
                  <a:srgbClr val="1E293B"/>
                </a:solidFill>
              </a:defRPr>
            </a:pPr>
            <a:r>
              <a:t>•  Ngăn ngừa nguy cơ bỏ sót các bệnh lý nguy hiểm.</a:t>
            </a:r>
          </a:p>
          <a:p>
            <a:pPr>
              <a:spcBef>
                <a:spcPts val="800"/>
              </a:spcBef>
              <a:defRPr sz="1550" b="1">
                <a:solidFill>
                  <a:srgbClr val="1A73E8"/>
                </a:solidFill>
              </a:defRPr>
            </a:pPr>
            <a:r>
              <a:t>Hit Rate @ 5 = (Số ca đúng ∈ Top 5) / (Tổng số ca)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188720"/>
            <a:ext cx="5120640" cy="5120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A7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1400"/>
              </a:spcAft>
              <a:defRPr sz="2400" b="1">
                <a:solidFill>
                  <a:srgbClr val="EA7010"/>
                </a:solidFill>
                <a:latin typeface="Segoe UI"/>
              </a:defRPr>
            </a:pPr>
            <a:r>
              <a:t>2. Hỏi trúng triệu chứng ẩn</a:t>
            </a:r>
          </a:p>
          <a:p>
            <a:pPr>
              <a:spcAft>
                <a:spcPts val="1400"/>
              </a:spcAft>
              <a:defRPr sz="1700">
                <a:solidFill>
                  <a:srgbClr val="1E293B"/>
                </a:solidFill>
                <a:latin typeface="Segoe UI"/>
              </a:defRPr>
            </a:pPr>
            <a:r>
              <a:t>Tỷ lệ câu hỏi được người bệnh xác nhận là "CÓ" (trúng triệu chứng người bệnh có nhưng chưa khai ban đầu).</a:t>
            </a:r>
          </a:p>
          <a:p>
            <a:pPr>
              <a:spcAft>
                <a:spcPts val="1200"/>
              </a:spcAft>
              <a:defRPr sz="1650">
                <a:solidFill>
                  <a:srgbClr val="1E293B"/>
                </a:solidFill>
              </a:defRPr>
            </a:pPr>
            <a:r>
              <a:t>•  Đo lường độ nhạy bén và năng lực khai thác bệnh sử lâm sàng.</a:t>
            </a:r>
          </a:p>
          <a:p>
            <a:pPr>
              <a:spcAft>
                <a:spcPts val="1200"/>
              </a:spcAft>
              <a:defRPr sz="1650">
                <a:solidFill>
                  <a:srgbClr val="1E293B"/>
                </a:solidFill>
              </a:defRPr>
            </a:pPr>
            <a:r>
              <a:t>•  Tránh các câu hỏi lan man mà người bệnh phủ nhận.</a:t>
            </a:r>
          </a:p>
          <a:p>
            <a:pPr>
              <a:spcAft>
                <a:spcPts val="1200"/>
              </a:spcAft>
              <a:defRPr sz="1650">
                <a:solidFill>
                  <a:srgbClr val="1E293B"/>
                </a:solidFill>
              </a:defRPr>
            </a:pPr>
            <a:r>
              <a:t>•  Tối ưu qua Information Gain: ClinicalUtility(S) = σ(P) × √(avg(P))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C57"/>
                </a:solidFill>
                <a:latin typeface="Segoe UI"/>
              </a:defRPr>
            </a:pPr>
            <a:r>
              <a:t>Kết quả đánh giá tổng hợp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69848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91840"/>
                <a:gridCol w="2286000"/>
                <a:gridCol w="2468880"/>
                <a:gridCol w="2651760"/>
              </a:tblGrid>
              <a:tr h="640080">
                <a:tc>
                  <a:txBody>
                    <a:bodyPr/>
                    <a:lstStyle/>
                    <a:p>
                      <a:pPr algn="l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Mô hình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Tỷ lệ trúng Top 5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Hỏi trúng triệu chứng ẩn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FFFFFF"/>
                          </a:solidFill>
                        </a:defRPr>
                      </a:pPr>
                      <a:r>
                        <a:t>Diễn giải</a:t>
                      </a:r>
                    </a:p>
                  </a:txBody>
                  <a:tcPr>
                    <a:solidFill>
                      <a:srgbClr val="102C57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1A73E8"/>
                          </a:solidFill>
                          <a:latin typeface="Segoe UI"/>
                        </a:defRPr>
                      </a:pPr>
                      <a:r>
                        <a:t>Hệ thống đề xuất (MedAI)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1A73E8"/>
                          </a:solidFill>
                          <a:latin typeface="Segoe UI"/>
                        </a:defRPr>
                      </a:pPr>
                      <a:r>
                        <a:t>90,0%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 b="1">
                          <a:solidFill>
                            <a:srgbClr val="1A73E8"/>
                          </a:solidFill>
                          <a:latin typeface="Segoe UI"/>
                        </a:defRPr>
                      </a:pPr>
                      <a:r>
                        <a:t>35,0%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 b="1">
                          <a:solidFill>
                            <a:srgbClr val="102C57"/>
                          </a:solidFill>
                          <a:latin typeface="Segoe UI"/>
                        </a:defRPr>
                      </a:pPr>
                      <a:r>
                        <a:t>Độ chính xác và độ nhạy dẫn đầu</a:t>
                      </a:r>
                    </a:p>
                  </a:txBody>
                  <a:tcPr>
                    <a:solidFill>
                      <a:srgbClr val="EEF6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Gemini 3.1 Flash Lite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85,0%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11,7%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Độ chính xác tốt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GPT-OSS-120B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85,0%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7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20,0%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1700">
                          <a:solidFill>
                            <a:srgbClr val="1E293B"/>
                          </a:solidFill>
                          <a:latin typeface="Segoe UI"/>
                        </a:defRPr>
                      </a:pPr>
                      <a:r>
                        <a:t>Độ chính xác tốt</a:t>
                      </a:r>
                    </a:p>
                  </a:txBody>
                  <a:tcPr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31520" y="4114800"/>
            <a:ext cx="1069848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095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2000" b="1">
                <a:solidFill>
                  <a:srgbClr val="10954E"/>
                </a:solidFill>
              </a:defRPr>
            </a:pPr>
            <a:r>
              <a:t>Nhận xét</a:t>
            </a:r>
          </a:p>
          <a:p>
            <a:pPr>
              <a:defRPr sz="1750">
                <a:solidFill>
                  <a:srgbClr val="1E293B"/>
                </a:solidFill>
                <a:latin typeface="Segoe UI"/>
              </a:defRPr>
            </a:pPr>
            <a:r>
              <a:t>Hệ thống đề xuất (MedAI) đạt 90,0% ở Top 5 và độ nhạy hỏi trúng triệu chứng ẩn 35,0%, cao nhất trong bảng; cho thấy khả năng thu thập thông tin và định hướng chẩn đoán vượt trội.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02C57"/>
                </a:solidFill>
                <a:latin typeface="Segoe UI"/>
              </a:defRPr>
            </a:pPr>
            <a:r>
              <a:t>Kết luận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188720"/>
            <a:ext cx="10332720" cy="51206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1A7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2000"/>
              </a:spcAft>
              <a:defRPr sz="2600" b="1">
                <a:solidFill>
                  <a:srgbClr val="1A73E8"/>
                </a:solidFill>
              </a:defRPr>
            </a:pPr>
            <a:r>
              <a:t>Kết quả chính</a:t>
            </a:r>
          </a:p>
          <a:p>
            <a:pPr>
              <a:spcAft>
                <a:spcPts val="2000"/>
              </a:spcAft>
              <a:defRPr sz="1900">
                <a:solidFill>
                  <a:srgbClr val="1E293B"/>
                </a:solidFill>
              </a:defRPr>
            </a:pPr>
            <a:r>
              <a:t>•  Hoàn thiện hệ thống khám bệnh tương tác đa vòng dựa trên Đồ thị tri thức SymCAT và thuật toán Bayesian Scoring.</a:t>
            </a:r>
          </a:p>
          <a:p>
            <a:pPr>
              <a:spcAft>
                <a:spcPts val="2000"/>
              </a:spcAft>
              <a:defRPr sz="1900">
                <a:solidFill>
                  <a:srgbClr val="1E293B"/>
                </a:solidFill>
              </a:defRPr>
            </a:pPr>
            <a:r>
              <a:t>•  Tỷ lệ trúng Top 5 đạt 90,0%, cao hơn các mô hình ngôn ngữ lớn (Gemini 85,0%, GPT-120B 85,0%).</a:t>
            </a:r>
          </a:p>
          <a:p>
            <a:pPr>
              <a:spcAft>
                <a:spcPts val="2000"/>
              </a:spcAft>
              <a:defRPr sz="1900">
                <a:solidFill>
                  <a:srgbClr val="1E293B"/>
                </a:solidFill>
              </a:defRPr>
            </a:pPr>
            <a:r>
              <a:t>•  Độ nhạy hỏi trúng triệu chứng ẩn đạt 35,0%, cao gấp 1,75x – 3,0x so với các mô hình đối chiếu.</a:t>
            </a:r>
          </a:p>
          <a:p>
            <a:pPr>
              <a:spcAft>
                <a:spcPts val="2000"/>
              </a:spcAft>
              <a:defRPr sz="1900">
                <a:solidFill>
                  <a:srgbClr val="1E293B"/>
                </a:solidFill>
              </a:defRPr>
            </a:pPr>
            <a:r>
              <a:t>•  Hướng phát triển: Mở rộng đồ thị tri thức, tích hợp Computer Vision cho Da Liễu và xét nghiệm cận lâm sàng.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